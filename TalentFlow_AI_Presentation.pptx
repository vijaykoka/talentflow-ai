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5400" b="1">
                <a:solidFill>
                  <a:srgbClr val="06B6D4"/>
                </a:solidFill>
                <a:latin typeface="Arial"/>
              </a:defRPr>
            </a:pPr>
            <a:r>
              <a:t>TALENTFLOW AI</a:t>
            </a:r>
          </a:p>
          <a:p>
            <a:pPr algn="ctr">
              <a:spcAft>
                <a:spcPts val="3600"/>
              </a:spcAft>
              <a:defRPr sz="2400">
                <a:solidFill>
                  <a:srgbClr val="8B5CF6"/>
                </a:solidFill>
                <a:latin typeface="Arial"/>
              </a:defRPr>
            </a:pPr>
            <a:r>
              <a:t>End-to-End Talent Fulfillment Platform</a:t>
            </a:r>
          </a:p>
          <a:p>
            <a:pPr algn="ctr">
              <a:defRPr sz="1400">
                <a:solidFill>
                  <a:srgbClr val="94A3B8"/>
                </a:solidFill>
                <a:latin typeface="Arial"/>
              </a:defRPr>
            </a:pPr>
            <a:r>
              <a:t>Presented by: Team TalentFlow  |  Vibeathon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OPERATIONAL FRICTION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8200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The Core Enterprise Pain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F3F4F6"/>
                </a:solidFill>
                <a:latin typeface="Arial"/>
              </a:defRPr>
            </a:pPr>
            <a:r>
              <a:t>Recruitment Bottlenecks:</a:t>
            </a:r>
          </a:p>
          <a:p>
            <a:pPr>
              <a:spcAft>
                <a:spcPts val="14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• Sifting manually through candidate CSVs and resume databases.</a:t>
            </a:r>
          </a:p>
          <a:p>
            <a:pPr>
              <a:spcAft>
                <a:spcPts val="14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• Zero real-time awareness of placement gross margins.</a:t>
            </a:r>
          </a:p>
          <a:p>
            <a:pPr>
              <a:spcAft>
                <a:spcPts val="14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• Disjointed staffing partner and recruitment vendor communications.</a:t>
            </a:r>
          </a:p>
          <a:p>
            <a:pPr>
              <a:spcAft>
                <a:spcPts val="14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• Significant revenue leakage due to unfulfilled critical client roles.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30352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EF4444"/>
                </a:solidFill>
                <a:latin typeface="Arial"/>
              </a:defRPr>
            </a:pPr>
            <a:r>
              <a:t>⏱️ Average Time-to-Hire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Standard recruitment pipelines average 44 days to fill vacancies.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TalentFlow AI automates operations, reducing cycles down to 5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840480"/>
            <a:ext cx="530352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EF4444"/>
                </a:solidFill>
                <a:latin typeface="Arial"/>
              </a:defRPr>
            </a:pPr>
            <a:r>
              <a:t>💸 Financial Cost of Delay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Empty client seats drain project progression and cost $2,000/day.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TalentFlow recovers lost margins with real-time talent matching.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UNIFIED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8200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The Value Pillars of TalentFlow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383280" cy="4114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29260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Arial"/>
              </a:defRPr>
            </a:pPr>
            <a:r>
              <a:t>🚀 1. Velocity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Touchless requirement processing maps demands in seconds.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Instant matching collapses typical 44-day processes into a 5-day cycle.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Increases candidate placement throughput for agencies and recruitment teams.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74520"/>
            <a:ext cx="29260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8B5CF6"/>
                </a:solidFill>
                <a:latin typeface="Arial"/>
              </a:defRPr>
            </a:pPr>
            <a:r>
              <a:t>✨ 2. Quality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 программа weighted matching logic matches profiles transparently.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Analyzes Skills (50%), Experience (30%), and Compensation Rate fit (20%).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Saves candidate fits with comprehensive reasons explaining matching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645920"/>
            <a:ext cx="3383280" cy="4114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74520"/>
            <a:ext cx="29260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💰 3. Profitability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First-of-its-kind, real-time 12-month margin forecasting.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Allows active projections of billing commissions, gross margins, and break-evens.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Empowers teams to make data-driven, highly profitable talent placements.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PRODUCT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8200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TalentFlow AI Integrated Feature Suite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120640" cy="1508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6634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Arial"/>
              </a:defRPr>
            </a:pPr>
            <a:r>
              <a:t>📊 Live Analytics Dashboard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Aggregate KPIs tracking total margins, hires, and revenue at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303520" cy="1508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463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Arial"/>
              </a:defRPr>
            </a:pPr>
            <a:r>
              <a:t>🎯 Demand Tracker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Manage job priorities, locations, requirements, and hiring pipelines.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200400"/>
            <a:ext cx="5120640" cy="1508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46634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8B5CF6"/>
                </a:solidFill>
                <a:latin typeface="Arial"/>
              </a:defRPr>
            </a:pPr>
            <a:r>
              <a:t>👥 Talent Pools &amp; Hot Talents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Candidate catalog with skills parsing and rare talent highlights.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200400"/>
            <a:ext cx="5303520" cy="1508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429000"/>
            <a:ext cx="48463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8B5CF6"/>
                </a:solidFill>
                <a:latin typeface="Arial"/>
              </a:defRPr>
            </a:pPr>
            <a:r>
              <a:t>🔄 AI Weighted Matching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Programmatic batch candidate scoring and visual match reports.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937760"/>
            <a:ext cx="5120640" cy="1508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66360"/>
            <a:ext cx="46634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🏢 Vendor Performance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Track partner placement metrics, commission fees, and quality stars.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937760"/>
            <a:ext cx="5303520" cy="1508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5166360"/>
            <a:ext cx="48463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💰 Margin Placement Planner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Amortizes placement costs and forecasts 12-month ROI break-evens.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ARCHITECTURE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8200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Our Lightweight Next.js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10817352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Arial"/>
              </a:defRPr>
            </a:pPr>
            <a:r>
              <a:t>💻 Frontend Layer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Next.js 13/14 App Router, React 18, TypeScript, Tailwind CSS, shadcn/ui typography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10817352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8B5CF6"/>
                </a:solidFill>
                <a:latin typeface="Arial"/>
              </a:defRPr>
            </a:pPr>
            <a:r>
              <a:t>⚙️ Server Logic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Next.js API Serverless Routes exposing lightweight JSON REST endpoints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023360"/>
            <a:ext cx="10817352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🗄️ Relational Database &amp; ORM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Prisma ORM connected to SQLite local database for fast, zero-configuration prototyping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303520"/>
            <a:ext cx="10817352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Arial"/>
              </a:defRPr>
            </a:pPr>
            <a:r>
              <a:t>🔒 Identity &amp; Security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NextAuth.js credentials provider managing secure user login sessions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CORE SCORING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8200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Explainable AI Match Mechanics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Arial"/>
              </a:defRPr>
            </a:pPr>
            <a:r>
              <a:t>🎯 Multi-Factor Matching Algorithm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Skills Match (50%): Cross-references candidate skills against active tags.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Experience Fit (30%): Ranks years of experience against candidate seniority requests.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Remuneration Fit (20%): Evaluates expected CTC within job salary brackets.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Combines rules cleanly to calculate overall candidate fit scores dynamically.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30352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8B5CF6"/>
                </a:solidFill>
                <a:latin typeface="Arial"/>
              </a:defRPr>
            </a:pPr>
            <a:r>
              <a:t>📊 Candidate Match Score Grading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90-100: Excellent Fit - Flagged automatically for direct hiring.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75-89: Strong Fit - Solid profile recommended for screening.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60-74: Moderate Fit - Potential backup profile, may require upskilling.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Below 60: Weak Fit - Filtered out automatically to prevent recruiter fatigue.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Matches include transparent written rationale explaining exact scores.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PLATFORM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8200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Enterprise Scaling Roadmap: Phase 1 &amp;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Arial"/>
              </a:defRPr>
            </a:pPr>
            <a:r>
              <a:t>⚙️ Phase 1: Robust Data Infrastructure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PostgreSQL Cluster: Replace SQLite with scalable AWS RDS or Aurora PostgreSQL.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Redis Caching: Introduce Redis to cache resource-heavy operational KPIs.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Multi-AZ Setup: Enforce read-replicas for high-availability reads.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Allows scaling candidate pools from thousands to millions securely.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3035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7452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8B5CF6"/>
                </a:solidFill>
                <a:latin typeface="Arial"/>
              </a:defRPr>
            </a:pPr>
            <a:r>
              <a:t>🧠 Phase 2: Semantic NLP Matching Engine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Contextual Gemini API: Integrate Google AI model hooks via LangChain.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Deep Semantic Parsing: Transition from exact text searches to context mapping.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Vector Embeddings: Generate embeddings stored in pgvector, Pinecone, or Milvus.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Automated Resume OCR: Leverage AWS Textract to parse PDF resumes directly.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INTEGRATION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8200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Enterprise Scaling Roadmap: Phase 3 &amp;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Arial"/>
              </a:defRPr>
            </a:pPr>
            <a:r>
              <a:t>🔌 Phase 3: Ecosystem Integrations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Asynchronous Queues: Delegate heavy matching to RabbitMQ background workers.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ATS Connectors: Synchronize candidates with Greenhouse, Lever, and Workday.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HRIS Synchronization: Link active hires directly with BambooHR or Rippling.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Expose modular outbound webhooks to sync platform events.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3035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7452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8B5CF6"/>
                </a:solidFill>
                <a:latin typeface="Arial"/>
              </a:defRPr>
            </a:pPr>
            <a:r>
              <a:t>🛡️ Phase 4: Enterprise Security &amp; Compliance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Multi-Tenant Isolation: strict partitioned data scopes per workspace.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Single Sign-On (SSO): Okta &amp; Azure AD SAML 2.0 / OIDC integrations.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SOC 2 Type II Auditing: Enforce complete transaction audit logs.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GDPR Candidate Protection: Built-in fields to secure candidate PII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8200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Empowering Predictive Capital Placements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Arial"/>
              </a:defRPr>
            </a:pPr>
            <a:r>
              <a:t>🎯 Executive Bottom Line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Business Recovery: Recover $2,000/day per seat from project vacancies.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89% Operational Boost: Collapses hiring latency from 44 days to 5 days.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Financial Analytics: Provides clear, 12-month margin and break-even foresight.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Unified Pipeline: Eliminates disjointed spreadsheets and tool fragmentation.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3035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7452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8B5CF6"/>
                </a:solidFill>
                <a:latin typeface="Arial"/>
              </a:defRPr>
            </a:pPr>
            <a:r>
              <a:t>🚀 Strategic Next Steps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Initialize AWS Aurora PostgreSQL instances for central data migration.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Secure Gemini API sandbox credentials for vector similarity trials.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Expose standard candidate integration APIs to connect recruitment vendor ATS portals.</a:t>
            </a:r>
          </a:p>
          <a:p>
            <a:pPr>
              <a:spcAft>
                <a:spcPts val="8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• Schedule live executive panel reviews and Q&amp;A boards.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